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anes\OneDrive\Desktop\Femcare\ppt\assets\cover-flower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910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910">
              <a:alpha val="7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0" y="10515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spc="400" kern="0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🌸  OFFLINE-FIRST  ·  PRIVATE  ·  AI-POWERED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196596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86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FemCare AI</a:t>
            </a:r>
            <a:endParaRPr lang="en-US" sz="8600" dirty="0"/>
          </a:p>
        </p:txBody>
      </p:sp>
      <p:sp>
        <p:nvSpPr>
          <p:cNvPr id="7" name="Text 4"/>
          <p:cNvSpPr/>
          <p:nvPr/>
        </p:nvSpPr>
        <p:spPr>
          <a:xfrm>
            <a:off x="7360920" y="1965960"/>
            <a:ext cx="201168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600" b="1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8600" dirty="0"/>
          </a:p>
        </p:txBody>
      </p:sp>
      <p:sp>
        <p:nvSpPr>
          <p:cNvPr id="8" name="Text 5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private menstrual-health companion for women &amp; girls aged 14–45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0" y="41605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Periods · Nutrition · Fitness · Clinical triage · Safety — all on her device. Nothing leaves it.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794760" y="5074920"/>
            <a:ext cx="1417320" cy="457200"/>
          </a:xfrm>
          <a:prstGeom prst="roundRect">
            <a:avLst>
              <a:gd name="adj" fmla="val 24000"/>
            </a:avLst>
          </a:prstGeom>
          <a:solidFill>
            <a:srgbClr val="0B0910">
              <a:alpha val="70000"/>
            </a:srgbClr>
          </a:solidFill>
          <a:ln w="12700">
            <a:solidFill>
              <a:srgbClr val="F4A6B9">
                <a:alpha val="6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94760" y="509320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Cloud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394960" y="5074920"/>
            <a:ext cx="1417320" cy="457200"/>
          </a:xfrm>
          <a:prstGeom prst="roundRect">
            <a:avLst>
              <a:gd name="adj" fmla="val 24000"/>
            </a:avLst>
          </a:prstGeom>
          <a:solidFill>
            <a:srgbClr val="0B0910">
              <a:alpha val="70000"/>
            </a:srgbClr>
          </a:solidFill>
          <a:ln w="12700">
            <a:solidFill>
              <a:srgbClr val="F4A6B9">
                <a:alpha val="6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94960" y="509320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Servers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995160" y="5074920"/>
            <a:ext cx="1417320" cy="457200"/>
          </a:xfrm>
          <a:prstGeom prst="roundRect">
            <a:avLst>
              <a:gd name="adj" fmla="val 24000"/>
            </a:avLst>
          </a:prstGeom>
          <a:solidFill>
            <a:srgbClr val="0B0910">
              <a:alpha val="70000"/>
            </a:srgbClr>
          </a:solidFill>
          <a:ln w="12700">
            <a:solidFill>
              <a:srgbClr val="F4A6B9">
                <a:alpha val="6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95160" y="509320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Confidential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0" y="60350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Dignity · Privacy · Health in every cycle  —  Team FemCare 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0936"/>
            <a:ext cx="128016" cy="128016"/>
          </a:xfrm>
          <a:prstGeom prst="ellipse">
            <a:avLst/>
          </a:prstGeom>
          <a:solidFill>
            <a:srgbClr val="D65D9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029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crises menstruators face every single day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Periods are treated as a private shame instead of the public-health issue they are.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537960" y="2331720"/>
            <a:ext cx="5120640" cy="3749040"/>
          </a:xfrm>
          <a:prstGeom prst="roundRect">
            <a:avLst>
              <a:gd name="adj" fmla="val 2439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</p:spPr>
      </p:sp>
      <p:pic>
        <p:nvPicPr>
          <p:cNvPr id="7" name="Image 0" descr="C:\Users\ganes\OneDrive\Desktop\Femcare\ppt\assets\privacy-sec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1112" y="2404872"/>
            <a:ext cx="4974336" cy="36027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684264" y="5367528"/>
            <a:ext cx="4828032" cy="566928"/>
          </a:xfrm>
          <a:prstGeom prst="roundRect">
            <a:avLst>
              <a:gd name="adj" fmla="val 12903"/>
            </a:avLst>
          </a:prstGeom>
          <a:solidFill>
            <a:srgbClr val="0B0910">
              <a:alpha val="75000"/>
            </a:srgbClr>
          </a:solidFill>
          <a:ln w="6350">
            <a:solidFill>
              <a:srgbClr val="F4A6B9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12280" y="5422392"/>
            <a:ext cx="4553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violation  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period apps were caught selling intimate fertility &amp; cycle data to ad networks.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02920" y="2377440"/>
            <a:ext cx="5852160" cy="1207008"/>
          </a:xfrm>
          <a:prstGeom prst="roundRect">
            <a:avLst>
              <a:gd name="adj" fmla="val 9091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15000" y="2057400"/>
            <a:ext cx="822960" cy="822960"/>
          </a:xfrm>
          <a:prstGeom prst="ellipse">
            <a:avLst/>
          </a:prstGeom>
          <a:solidFill>
            <a:srgbClr val="B5497A">
              <a:alpha val="4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31520" y="254203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in 10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758952" y="309067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B54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NEGLECT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58952" y="3383280"/>
            <a:ext cx="5349240" cy="640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have PCOS — and over 50% of women in India suffer period-related anaemia, mostly undiagnosed.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02920" y="3694176"/>
            <a:ext cx="5852160" cy="1207008"/>
          </a:xfrm>
          <a:prstGeom prst="roundRect">
            <a:avLst>
              <a:gd name="adj" fmla="val 9091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31520" y="3858768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M</a:t>
            </a:r>
            <a:endParaRPr lang="en-US" sz="3400" dirty="0"/>
          </a:p>
        </p:txBody>
      </p:sp>
      <p:sp>
        <p:nvSpPr>
          <p:cNvPr id="17" name="Text 14"/>
          <p:cNvSpPr/>
          <p:nvPr/>
        </p:nvSpPr>
        <p:spPr>
          <a:xfrm>
            <a:off x="758952" y="4407408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7C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PERIOD POVERTY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58952" y="4700016"/>
            <a:ext cx="5349240" cy="640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Adolescent girls in India drop out of school yearly for lack of products, sanitation &amp; guidance.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02920" y="5010912"/>
            <a:ext cx="5852160" cy="1207008"/>
          </a:xfrm>
          <a:prstGeom prst="roundRect">
            <a:avLst>
              <a:gd name="adj" fmla="val 9091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31520" y="5175504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in 5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758952" y="5724144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F0B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SILENT TABOO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58952" y="6016752"/>
            <a:ext cx="5349240" cy="640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Girls miss school rather than talk about it — partners &amp; fathers are never taught how to help.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857590"/>
                </a:solidFill>
              </a:rPr>
              <a:t>FemCare AI  ·  2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4A6B9"/>
                </a:solidFill>
              </a:rPr>
              <a:t>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0936"/>
            <a:ext cx="128016" cy="128016"/>
          </a:xfrm>
          <a:prstGeom prst="ellipse">
            <a:avLst/>
          </a:prstGeom>
          <a:solidFill>
            <a:srgbClr val="D65D9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029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FemCare AI — one tap to open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0E0A14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FemCare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31520" y="3429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morning, Ananya 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4937760" cy="1417320"/>
          </a:xfrm>
          <a:prstGeom prst="roundRect">
            <a:avLst>
              <a:gd name="adj" fmla="val 6452"/>
            </a:avLst>
          </a:prstGeom>
          <a:solidFill>
            <a:srgbClr val="23152C"/>
          </a:solidFill>
          <a:ln w="12700">
            <a:solidFill>
              <a:srgbClr val="3F2A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9867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CURRENT PHASE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4279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Follicular Phase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60120" y="466344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CFC2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rising — estrogen builds, mood brightens. Great time to learn &amp; socialize.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0120" y="54132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 Period in 14 days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5806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actions:  ◉ Log symptoms   ◉ Diet   ● Ask AI   ! SOS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172200" y="237744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Predictive cycle engine  —  next period, fertile window, ovulation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28803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Femi AI  —  offline clinical Q&amp;A + symptom triage, no cloud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172200" y="33832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Cycle-phased Indian nutrition &amp; fitness plans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38862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One-tap Emergency SOS to her trusted circle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43891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100% offline — sandboxed localStorage, zero network calls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5029200"/>
            <a:ext cx="5486400" cy="1097280"/>
          </a:xfrm>
          <a:prstGeom prst="roundRect">
            <a:avLst>
              <a:gd name="adj" fmla="val 8333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</p:spPr>
      </p:sp>
      <p:pic>
        <p:nvPicPr>
          <p:cNvPr id="21" name="Image 0" descr="C:\Users\ganes\OneDrive\Desktop\Femcare\ppt\assets\woman-smi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45352" y="5102352"/>
            <a:ext cx="5340096" cy="950976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318504" y="5413248"/>
            <a:ext cx="5193792" cy="566928"/>
          </a:xfrm>
          <a:prstGeom prst="roundRect">
            <a:avLst>
              <a:gd name="adj" fmla="val 12903"/>
            </a:avLst>
          </a:prstGeom>
          <a:solidFill>
            <a:srgbClr val="0B0910">
              <a:alpha val="75000"/>
            </a:srgbClr>
          </a:solidFill>
          <a:ln w="6350">
            <a:solidFill>
              <a:srgbClr val="F4A6B9">
                <a:alpha val="4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46520" y="5468112"/>
            <a:ext cx="49194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her lived reality — dark-mode comfort, culturally-resonant, private by default.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857590"/>
                </a:solidFill>
              </a:rPr>
              <a:t>FemCare AI  ·  3</a:t>
            </a: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4A6B9"/>
                </a:solidFill>
              </a:rPr>
              <a:t>3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0936"/>
            <a:ext cx="128016" cy="128016"/>
          </a:xfrm>
          <a:prstGeom prst="ellipse">
            <a:avLst/>
          </a:prstGeom>
          <a:solidFill>
            <a:srgbClr val="D65D9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029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PRIVACY-FIRST ARCHITECTURE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period data never leaves her device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accounts. No cloud. No analytics pings. The whole AI &amp; knowledge base runs inside the browser.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5394960" cy="3794760"/>
          </a:xfrm>
          <a:prstGeom prst="roundRect">
            <a:avLst>
              <a:gd name="adj" fmla="val 2892"/>
            </a:avLst>
          </a:prstGeom>
          <a:solidFill>
            <a:srgbClr val="0E0A14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Privacy Shield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9260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zero-network verification · Local only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3429000"/>
            <a:ext cx="4846320" cy="310896"/>
          </a:xfrm>
          <a:prstGeom prst="rect">
            <a:avLst/>
          </a:prstGeom>
          <a:solidFill>
            <a:srgbClr val="1E1727"/>
          </a:solidFill>
          <a:ln w="6350">
            <a:solidFill>
              <a:srgbClr val="3125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74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requests ......... 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3813048"/>
            <a:ext cx="4846320" cy="310896"/>
          </a:xfrm>
          <a:prstGeom prst="rect">
            <a:avLst/>
          </a:prstGeom>
          <a:solidFill>
            <a:srgbClr val="1E1727"/>
          </a:solidFill>
          <a:ln w="6350">
            <a:solidFill>
              <a:srgbClr val="3125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858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accounts ........... None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4197096"/>
            <a:ext cx="4846320" cy="310896"/>
          </a:xfrm>
          <a:prstGeom prst="rect">
            <a:avLst/>
          </a:prstGeom>
          <a:solidFill>
            <a:srgbClr val="1E1727"/>
          </a:solidFill>
          <a:ln w="6350">
            <a:solidFill>
              <a:srgbClr val="3125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2428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stored .............. This device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4581144"/>
            <a:ext cx="4846320" cy="310896"/>
          </a:xfrm>
          <a:prstGeom prst="rect">
            <a:avLst/>
          </a:prstGeom>
          <a:solidFill>
            <a:srgbClr val="1E1727"/>
          </a:solidFill>
          <a:ln w="6350">
            <a:solidFill>
              <a:srgbClr val="3125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6268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................. femcare_state_v1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5257800"/>
            <a:ext cx="4846320" cy="548640"/>
          </a:xfrm>
          <a:prstGeom prst="roundRect">
            <a:avLst>
              <a:gd name="adj" fmla="val 16667"/>
            </a:avLst>
          </a:prstGeom>
          <a:solidFill>
            <a:srgbClr val="1E1727"/>
          </a:solidFill>
          <a:ln w="12700">
            <a:solidFill>
              <a:srgbClr val="34D399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37667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LIVE NETWORK MONITOR — 0 requests · 0 sockets · 0 calls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5897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Erase all data permanently 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2331720"/>
            <a:ext cx="5486400" cy="1097280"/>
          </a:xfrm>
          <a:prstGeom prst="roundRect">
            <a:avLst>
              <a:gd name="adj" fmla="val 10000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55080" y="2514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Privacy Shield — one tap, live proof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55080" y="2926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monitor + raw local JSON inspector + permanent wipe.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72200" y="3566160"/>
            <a:ext cx="5486400" cy="1097280"/>
          </a:xfrm>
          <a:prstGeom prst="roundRect">
            <a:avLst>
              <a:gd name="adj" fmla="val 10000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5508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 Sandboxed local storage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55080" y="4160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lives in femcare_state_v1 — encrypted at rest, invisible to the network.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172200" y="4800600"/>
            <a:ext cx="5486400" cy="1325880"/>
          </a:xfrm>
          <a:prstGeom prst="roundRect">
            <a:avLst>
              <a:gd name="adj" fmla="val 8276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55080" y="4983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Femi AI is 100% on-device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55080" y="53949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curated clinical Q&amp;A pairs + triage matrix run locally — even on airplane mode.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857590"/>
                </a:solidFill>
              </a:rPr>
              <a:t>FemCare AI  ·  4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4A6B9"/>
                </a:solidFill>
              </a:rPr>
              <a:t>4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0936"/>
            <a:ext cx="128016" cy="128016"/>
          </a:xfrm>
          <a:prstGeom prst="ellipse">
            <a:avLst/>
          </a:prstGeom>
          <a:solidFill>
            <a:srgbClr val="D65D9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029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TOUR ·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dashboard that understands her cycle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4231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🌗  Phase intelligence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27249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Menstrual → Follicular → Ovulatory → Luteal, with day-of-cycle, progress ring &amp; energy guidance.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754880" y="2532888"/>
            <a:ext cx="1325880" cy="365760"/>
          </a:xfrm>
          <a:prstGeom prst="roundRect">
            <a:avLst>
              <a:gd name="adj" fmla="val 50000"/>
            </a:avLst>
          </a:prstGeom>
          <a:solidFill>
            <a:srgbClr val="B5497A">
              <a:alpha val="80000"/>
            </a:srgbClr>
          </a:solidFill>
          <a:ln w="6350">
            <a:solidFill>
              <a:srgbClr val="B549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58775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13 · Rising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291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🔮  Period &amp; fertile-window prediction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31520" y="35935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Knaus–Ogino modified algorithm forecasts the next period date and the 6-day fertile window.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406908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41605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  Health score at a glance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31520" y="446227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Sleep, hydration &amp; activity compose a daily 0–100 score — plus a fact from a 365-day evidence bank.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4937760"/>
            <a:ext cx="5760720" cy="777240"/>
          </a:xfrm>
          <a:prstGeom prst="roundRect">
            <a:avLst>
              <a:gd name="adj" fmla="val 14118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50292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Everything one thumb-tap away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31520" y="53309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Symptom logger, Diet, Femi AI and SOS sit in the quick-actions grid — zero friction in a crisis.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37960" y="2331720"/>
            <a:ext cx="5120640" cy="3794760"/>
          </a:xfrm>
          <a:prstGeom prst="roundRect">
            <a:avLst>
              <a:gd name="adj" fmla="val 2410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</p:spPr>
      </p:sp>
      <p:pic>
        <p:nvPicPr>
          <p:cNvPr id="20" name="Image 0" descr="C:\Users\ganes\OneDrive\Desktop\Femcare\ppt\assets\woman-smil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1112" y="2404872"/>
            <a:ext cx="4974336" cy="364845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6684264" y="5413248"/>
            <a:ext cx="4828032" cy="566928"/>
          </a:xfrm>
          <a:prstGeom prst="roundRect">
            <a:avLst>
              <a:gd name="adj" fmla="val 12903"/>
            </a:avLst>
          </a:prstGeom>
          <a:solidFill>
            <a:srgbClr val="0B0910">
              <a:alpha val="75000"/>
            </a:srgbClr>
          </a:solidFill>
          <a:ln w="6350">
            <a:solidFill>
              <a:srgbClr val="F4A6B9">
                <a:alpha val="40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812280" y="5468112"/>
            <a:ext cx="455371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her lived reality — culturally-resonant content with privacy as the default.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857590"/>
                </a:solidFill>
              </a:rPr>
              <a:t>FemCare AI  ·  5</a:t>
            </a: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4A6B9"/>
                </a:solidFill>
              </a:rPr>
              <a:t>5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0936"/>
            <a:ext cx="128016" cy="128016"/>
          </a:xfrm>
          <a:prstGeom prst="ellipse">
            <a:avLst/>
          </a:prstGeom>
          <a:solidFill>
            <a:srgbClr val="D65D9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029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TOUR ·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cycles. Get clinical triage — offline.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5577840" cy="2057400"/>
          </a:xfrm>
          <a:prstGeom prst="roundRect">
            <a:avLst>
              <a:gd name="adj" fmla="val 5333"/>
            </a:avLst>
          </a:prstGeom>
          <a:solidFill>
            <a:srgbClr val="0E0A14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848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514600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1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34440" y="2514600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2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37360" y="2514600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3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240280" y="2514600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4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43200" y="2514600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5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46120" y="2514600"/>
            <a:ext cx="457200" cy="274320"/>
          </a:xfrm>
          <a:prstGeom prst="rect">
            <a:avLst/>
          </a:prstGeom>
          <a:solidFill>
            <a:srgbClr val="B549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6EFF9"/>
                </a:solidFill>
              </a:rPr>
              <a:t>6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749040" y="2514600"/>
            <a:ext cx="457200" cy="274320"/>
          </a:xfrm>
          <a:prstGeom prst="rect">
            <a:avLst/>
          </a:prstGeom>
          <a:solidFill>
            <a:srgbClr val="B549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6EFF9"/>
                </a:solidFill>
              </a:rPr>
              <a:t>7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31520" y="2843784"/>
            <a:ext cx="457200" cy="274320"/>
          </a:xfrm>
          <a:prstGeom prst="rect">
            <a:avLst/>
          </a:prstGeom>
          <a:solidFill>
            <a:srgbClr val="B549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6EFF9"/>
                </a:solidFill>
              </a:rPr>
              <a:t>8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34440" y="2843784"/>
            <a:ext cx="457200" cy="274320"/>
          </a:xfrm>
          <a:prstGeom prst="rect">
            <a:avLst/>
          </a:prstGeom>
          <a:solidFill>
            <a:srgbClr val="B549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F6EFF9"/>
                </a:solidFill>
              </a:rPr>
              <a:t>9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737360" y="2843784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10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40280" y="2843784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11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2240280" y="2843784"/>
            <a:ext cx="457200" cy="274320"/>
          </a:xfrm>
          <a:prstGeom prst="ellipse">
            <a:avLst/>
          </a:prstGeom>
          <a:ln w="1524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2843784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12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2743200" y="2843784"/>
            <a:ext cx="457200" cy="274320"/>
          </a:xfrm>
          <a:prstGeom prst="ellipse">
            <a:avLst/>
          </a:prstGeom>
          <a:ln w="1524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2843784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13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246120" y="2843784"/>
            <a:ext cx="457200" cy="274320"/>
          </a:xfrm>
          <a:prstGeom prst="ellipse">
            <a:avLst/>
          </a:prstGeom>
          <a:ln w="1524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2843784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14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3749040" y="2843784"/>
            <a:ext cx="457200" cy="274320"/>
          </a:xfrm>
          <a:prstGeom prst="ellipse">
            <a:avLst/>
          </a:prstGeom>
          <a:ln w="1524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172968"/>
            <a:ext cx="457200" cy="274320"/>
          </a:xfrm>
          <a:prstGeom prst="rect">
            <a:avLst/>
          </a:prstGeom>
          <a:solidFill>
            <a:srgbClr val="F0B34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b="1" dirty="0">
                <a:solidFill>
                  <a:srgbClr val="2A1503"/>
                </a:solidFill>
              </a:rPr>
              <a:t>15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34440" y="3172968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16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737360" y="3172968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17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240280" y="3172968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18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743200" y="3172968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19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246120" y="3172968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20</a:t>
            </a: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749040" y="3172968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21</a:t>
            </a: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31520" y="3502152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22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234440" y="3502152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23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737360" y="3502152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24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240280" y="3502152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25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743200" y="3502152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26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246120" y="3502152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27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749040" y="3502152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2A1D33"/>
                </a:solidFill>
              </a:rPr>
              <a:t>28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3152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Period   ◯ Fertile   ● Ovulation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02920" y="4251960"/>
            <a:ext cx="5577840" cy="1600200"/>
          </a:xfrm>
          <a:prstGeom prst="roundRect">
            <a:avLst>
              <a:gd name="adj" fmla="val 6857"/>
            </a:avLst>
          </a:prstGeom>
          <a:solidFill>
            <a:srgbClr val="0E0A14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731520" y="43708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for today · Day 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152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 Flow · Medium        😖 Pain · 6/10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263640" y="1965960"/>
            <a:ext cx="5440680" cy="1828800"/>
          </a:xfrm>
          <a:prstGeom prst="roundRect">
            <a:avLst>
              <a:gd name="adj" fmla="val 6000"/>
            </a:avLst>
          </a:prstGeom>
          <a:solidFill>
            <a:srgbClr val="0E0A14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92240" y="20848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✚  Femi · Symptom Triage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492240" y="2395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heuristic · runs 100% offline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49224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 level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321040" y="26974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492240" y="2999232"/>
            <a:ext cx="4937760" cy="91440"/>
          </a:xfrm>
          <a:prstGeom prst="roundRect">
            <a:avLst>
              <a:gd name="adj" fmla="val 50000"/>
            </a:avLst>
          </a:prstGeom>
          <a:solidFill>
            <a:srgbClr val="2A1D33"/>
          </a:solidFill>
          <a:ln/>
        </p:spPr>
      </p:sp>
      <p:sp>
        <p:nvSpPr>
          <p:cNvPr id="49" name="Shape 47"/>
          <p:cNvSpPr/>
          <p:nvPr/>
        </p:nvSpPr>
        <p:spPr>
          <a:xfrm>
            <a:off x="6492240" y="2999232"/>
            <a:ext cx="3931920" cy="91440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50" name="Text 48"/>
          <p:cNvSpPr/>
          <p:nvPr/>
        </p:nvSpPr>
        <p:spPr>
          <a:xfrm>
            <a:off x="6492240" y="32004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FDA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Dizziness  ✓   ⚠ Fever  ✓   ⚠ Soaking pads  ✓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63640" y="3977640"/>
            <a:ext cx="5440680" cy="1874520"/>
          </a:xfrm>
          <a:prstGeom prst="roundRect">
            <a:avLst>
              <a:gd name="adj" fmla="val 5854"/>
            </a:avLst>
          </a:prstGeom>
          <a:solidFill>
            <a:srgbClr val="2A1005"/>
          </a:solidFill>
          <a:ln w="1270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6492240" y="41148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E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CRITICAL — SEEK EMERGENCY CARE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492240" y="45262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ECD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Severe pain + red flags may indicate heavy bleeding or infection. Go to the nearest hospital.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492240" y="52120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112 National Emergency      🚑 102 Ambulance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857590"/>
                </a:solidFill>
              </a:rPr>
              <a:t>FemCare AI  ·  6</a:t>
            </a: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4A6B9"/>
                </a:solidFill>
              </a:rPr>
              <a:t>6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0936"/>
            <a:ext cx="128016" cy="128016"/>
          </a:xfrm>
          <a:prstGeom prst="ellipse">
            <a:avLst/>
          </a:prstGeom>
          <a:solidFill>
            <a:srgbClr val="D65D9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029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TOUR ·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Nutrition &amp; fitness that ride her hormones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2194560"/>
            <a:ext cx="6400800" cy="2057400"/>
          </a:xfrm>
          <a:prstGeom prst="roundRect">
            <a:avLst>
              <a:gd name="adj" fmla="val 4444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</p:spPr>
      </p:sp>
      <p:pic>
        <p:nvPicPr>
          <p:cNvPr id="6" name="Image 0" descr="C:\Users\ganes\OneDrive\Desktop\Femcare\ppt\assets\nutrition-bow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6072" y="2267712"/>
            <a:ext cx="6254496" cy="191109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9224" y="3538728"/>
            <a:ext cx="6108192" cy="566928"/>
          </a:xfrm>
          <a:prstGeom prst="roundRect">
            <a:avLst>
              <a:gd name="adj" fmla="val 12903"/>
            </a:avLst>
          </a:prstGeom>
          <a:solidFill>
            <a:srgbClr val="0B0910">
              <a:alpha val="75000"/>
            </a:srgbClr>
          </a:solidFill>
          <a:ln w="6350">
            <a:solidFill>
              <a:srgbClr val="F4A6B9">
                <a:alpha val="4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3593592"/>
            <a:ext cx="58338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Palak Dal Khichdi · Til-Gur Bites · Haldi Doodh  </a:t>
            </a: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5-ingredient iron-boosting recipes — localized, affordable, culturally familiar.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02920" y="4434840"/>
            <a:ext cx="3108960" cy="1234440"/>
          </a:xfrm>
          <a:prstGeom prst="roundRect">
            <a:avLst>
              <a:gd name="adj" fmla="val 8889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31520" y="4526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🏃 Cycle-Phased Fitness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1520" y="484632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Menstrual — Restorative yoga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Follicular — High-intensity strength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Ovulatory — HIIT · peak power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Luteal — Pilates · steady cardio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840480" y="4434840"/>
            <a:ext cx="3063240" cy="1234440"/>
          </a:xfrm>
          <a:prstGeom prst="roundRect">
            <a:avLst>
              <a:gd name="adj" fmla="val 7407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</p:spPr>
      </p:sp>
      <p:pic>
        <p:nvPicPr>
          <p:cNvPr id="13" name="Image 1" descr="C:\Users\ganes\OneDrive\Desktop\Femcare\ppt\assets\fitness-yog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13632" y="4507992"/>
            <a:ext cx="2916936" cy="108813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7086600" y="2194560"/>
            <a:ext cx="4572000" cy="1417320"/>
          </a:xfrm>
          <a:prstGeom prst="roundRect">
            <a:avLst>
              <a:gd name="adj" fmla="val 7742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315200" y="230428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⚖️ Luteal water-weight — normal, not fat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7315200" y="3977640"/>
            <a:ext cx="4023360" cy="0"/>
          </a:xfrm>
          <a:prstGeom prst="line">
            <a:avLst/>
          </a:prstGeom>
          <a:noFill/>
          <a:ln w="12700">
            <a:solidFill>
              <a:srgbClr val="31253E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79792" y="3648456"/>
            <a:ext cx="452628" cy="54864"/>
          </a:xfrm>
          <a:prstGeom prst="line">
            <a:avLst/>
          </a:prstGeom>
          <a:noFill/>
          <a:ln w="25400">
            <a:solidFill>
              <a:srgbClr val="B5497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932420" y="3703320"/>
            <a:ext cx="452628" cy="71323"/>
          </a:xfrm>
          <a:prstGeom prst="line">
            <a:avLst/>
          </a:prstGeom>
          <a:noFill/>
          <a:ln w="25400">
            <a:solidFill>
              <a:srgbClr val="B5497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85048" y="3774643"/>
            <a:ext cx="436169" cy="38405"/>
          </a:xfrm>
          <a:prstGeom prst="line">
            <a:avLst/>
          </a:prstGeom>
          <a:noFill/>
          <a:ln w="25400">
            <a:solidFill>
              <a:srgbClr val="B5497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821217" y="3813048"/>
            <a:ext cx="469087" cy="38405"/>
          </a:xfrm>
          <a:prstGeom prst="line">
            <a:avLst/>
          </a:prstGeom>
          <a:noFill/>
          <a:ln w="25400">
            <a:solidFill>
              <a:srgbClr val="B5497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290304" y="3851453"/>
            <a:ext cx="181051" cy="32918"/>
          </a:xfrm>
          <a:prstGeom prst="line">
            <a:avLst/>
          </a:prstGeom>
          <a:noFill/>
          <a:ln w="25400">
            <a:solidFill>
              <a:srgbClr val="B5497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471355" y="3884371"/>
            <a:ext cx="312725" cy="65837"/>
          </a:xfrm>
          <a:prstGeom prst="line">
            <a:avLst/>
          </a:prstGeom>
          <a:noFill/>
          <a:ln w="25400">
            <a:solidFill>
              <a:srgbClr val="B5497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784080" y="3950208"/>
            <a:ext cx="329184" cy="54864"/>
          </a:xfrm>
          <a:prstGeom prst="line">
            <a:avLst/>
          </a:prstGeom>
          <a:noFill/>
          <a:ln w="25400">
            <a:solidFill>
              <a:srgbClr val="B5497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9425635" y="3838651"/>
            <a:ext cx="91440" cy="91440"/>
          </a:xfrm>
          <a:prstGeom prst="ellipse">
            <a:avLst/>
          </a:prstGeom>
          <a:solidFill>
            <a:srgbClr val="F0B34C"/>
          </a:solidFill>
          <a:ln/>
        </p:spPr>
      </p:sp>
      <p:sp>
        <p:nvSpPr>
          <p:cNvPr id="25" name="Text 21"/>
          <p:cNvSpPr/>
          <p:nvPr/>
        </p:nvSpPr>
        <p:spPr>
          <a:xfrm>
            <a:off x="7315200" y="422452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0B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+1.2 kg fluid — clears after period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7315200" y="36576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chart stops panic &amp; crash dieting — evidence that cycle weight gain is normal.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857590"/>
                </a:solidFill>
              </a:rPr>
              <a:t>FemCare AI  ·  7</a:t>
            </a: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4A6B9"/>
                </a:solidFill>
              </a:rPr>
              <a:t>7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0936"/>
            <a:ext cx="128016" cy="128016"/>
          </a:xfrm>
          <a:prstGeom prst="ellipse">
            <a:avLst/>
          </a:prstGeom>
          <a:solidFill>
            <a:srgbClr val="D65D9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029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TOUR ·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Crisis-ready safety &amp; a shame-free economy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21488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0E0A14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331720"/>
            <a:ext cx="1051560" cy="1051560"/>
          </a:xfrm>
          <a:prstGeom prst="ellipse">
            <a:avLst/>
          </a:prstGeom>
          <a:solidFill>
            <a:srgbClr val="F87171">
              <a:alpha val="9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07008" y="2487168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60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🆘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3520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SOS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4224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Trusted Circle — Mom ✓ · Best friend ✓ · Brother ●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0E0A14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2286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Free-Pad Locator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265176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0B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Aushadhi — Suvidha pads at ₹1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301752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ASHA / Anganwadi free pads &amp; guidance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Cross emergency pad banks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404164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9,500+ mapped access points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83880" y="2148840"/>
            <a:ext cx="3520440" cy="2194560"/>
          </a:xfrm>
          <a:prstGeom prst="roundRect">
            <a:avLst>
              <a:gd name="adj" fmla="val 5000"/>
            </a:avLst>
          </a:prstGeom>
          <a:solidFill>
            <a:srgbClr val="0E0A14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412480" y="22860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🛍 Shop · Privacy Packaging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0" y="2651760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🍶 Menstrual cups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🌿 Organic bamboo pads</a:t>
            </a:r>
            <a:endParaRPr lang="en-US" sz="10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product names blurred by default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0" y="40416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Discreet affiliate commerce — no data sold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572000"/>
            <a:ext cx="11155680" cy="411480"/>
          </a:xfrm>
          <a:prstGeom prst="roundRect">
            <a:avLst>
              <a:gd name="adj" fmla="val 22222"/>
            </a:avLst>
          </a:prstGeom>
          <a:solidFill>
            <a:srgbClr val="1E1727"/>
          </a:solidFill>
          <a:ln w="9525">
            <a:solidFill>
              <a:srgbClr val="3125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636008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Hold-to-SOS broadcasts WhatsApp + SMS to the trusted circle, with a silent panic code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5047488"/>
            <a:ext cx="11155680" cy="411480"/>
          </a:xfrm>
          <a:prstGeom prst="roundRect">
            <a:avLst>
              <a:gd name="adj" fmla="val 22222"/>
            </a:avLst>
          </a:prstGeom>
          <a:solidFill>
            <a:srgbClr val="1E1727"/>
          </a:solidFill>
          <a:ln w="9525">
            <a:solidFill>
              <a:srgbClr val="3125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111496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Period-poverty fix — locator maps Jan Aushadhi Kendras selling ₹1 Suvidha pads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5522976"/>
            <a:ext cx="11155680" cy="411480"/>
          </a:xfrm>
          <a:prstGeom prst="roundRect">
            <a:avLst>
              <a:gd name="adj" fmla="val 22222"/>
            </a:avLst>
          </a:prstGeom>
          <a:solidFill>
            <a:srgbClr val="1E1727"/>
          </a:solidFill>
          <a:ln w="9525">
            <a:solidFill>
              <a:srgbClr val="3125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586984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🕶 Privacy Packaging blurs sensitive product names in the shop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02920" y="5998464"/>
            <a:ext cx="11155680" cy="411480"/>
          </a:xfrm>
          <a:prstGeom prst="roundRect">
            <a:avLst>
              <a:gd name="adj" fmla="val 22222"/>
            </a:avLst>
          </a:prstGeom>
          <a:solidFill>
            <a:srgbClr val="1E1727"/>
          </a:solidFill>
          <a:ln w="9525">
            <a:solidFill>
              <a:srgbClr val="3125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6062472"/>
            <a:ext cx="1078992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🚑 Direct helplines — 112 national emergency, 102 ambulance, one tap away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857590"/>
                </a:solidFill>
              </a:rPr>
              <a:t>FemCare AI  ·  8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4A6B9"/>
                </a:solidFill>
              </a:rPr>
              <a:t>8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0936"/>
            <a:ext cx="128016" cy="128016"/>
          </a:xfrm>
          <a:prstGeom prst="ellipse">
            <a:avLst/>
          </a:prstGeom>
          <a:solidFill>
            <a:srgbClr val="D65D9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029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INCLUSIVITY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her language. For everyone who cares for her.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7373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toggle:  English · हिन्दी · தமிழ் · తెలుగు — every phase description, fact, recipe &amp; advice translates instantly.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33172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B5497A"/>
          </a:solidFill>
          <a:ln w="12700">
            <a:solidFill>
              <a:srgbClr val="B549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4048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 English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233172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24048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हिन्दी  Hindi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86200" y="233172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24048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தமிழ்  Tamil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2331720"/>
            <a:ext cx="1554480" cy="502920"/>
          </a:xfrm>
          <a:prstGeom prst="roundRect">
            <a:avLst>
              <a:gd name="adj" fmla="val 21818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40487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తెలుగు  Telugu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154680"/>
            <a:ext cx="5577840" cy="3017520"/>
          </a:xfrm>
          <a:prstGeom prst="roundRect">
            <a:avLst>
              <a:gd name="adj" fmla="val 3636"/>
            </a:avLst>
          </a:prstGeom>
          <a:solidFill>
            <a:srgbClr val="150D1C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77240" y="3337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Follicular Phase · Energy Rising 🚀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3767328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Estrogen is climbing — great for learning, workouts &amp; big conversations. Switch languages live in the app — the entire UI re-renders instantly.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48006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Journal · Voice-enabled  🎙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51663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CFC2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“Today felt heavy but I moved more… the app correlated my mood with cycle day 22 — luteal dip. It's not all in my head.”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55080" y="315468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2C103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3291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🤝 Partner Empathy Mode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83680" y="370332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4B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mode for partners, brothers &amp; fathers — learns how to support her through each phase. Breaks the taboo at the family level.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4709160"/>
            <a:ext cx="5349240" cy="1463040"/>
          </a:xfrm>
          <a:prstGeom prst="roundRect">
            <a:avLst>
              <a:gd name="adj" fmla="val 7500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83680" y="48463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365 Facts + Ice-Breaker Quizzes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83680" y="525780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daily evidence-based fact bank with sources, and playful quizzes that turn “the talk” into something shareable &amp; destigmatized.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857590"/>
                </a:solidFill>
              </a:rPr>
              <a:t>FemCare AI  ·  9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4A6B9"/>
                </a:solidFill>
              </a:rPr>
              <a:t>9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0936"/>
            <a:ext cx="128016" cy="128016"/>
          </a:xfrm>
          <a:prstGeom prst="ellipse">
            <a:avLst/>
          </a:prstGeom>
          <a:solidFill>
            <a:srgbClr val="D65D9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029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incumbent apps fail — FemCare wins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11155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383280"/>
                <a:gridCol w="1673352"/>
                <a:gridCol w="1691640"/>
                <a:gridCol w="1664208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storage &amp; privacy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100% on-device sandboxed localStorage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 Cloud login, data on servers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 Online, synced to backend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 Often ad-tracked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Network usage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0 requests — verified live monitor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 Always online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 Cloud-first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 Varies / ad networks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 support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EN · हिन्दी · தமிழ் · తెలుగు (12 next)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 EN + limited locales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 EN core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 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Indian nutrition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Phase-based — Khichdi, Til-Gur, ₹1 pads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 Generic / Western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 Generic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 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Emergency SOS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Trusted-circle WhatsApp/SMS + 112/102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Basic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No live relay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✖ None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✔ Free core forever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Freemium paywall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Subscription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F6EF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▲ Free (data sold)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73152" marB="73152" anchor="ctr">
                    <a:lnL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125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72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1965960"/>
            <a:ext cx="11155680" cy="457200"/>
          </a:xfrm>
          <a:prstGeom prst="rect">
            <a:avLst/>
          </a:prstGeom>
          <a:solidFill>
            <a:srgbClr val="B5497A">
              <a:alpha val="30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246120" y="1965960"/>
            <a:ext cx="3383280" cy="3566160"/>
          </a:xfrm>
          <a:prstGeom prst="rect">
            <a:avLst/>
          </a:prstGeom>
          <a:solidFill>
            <a:srgbClr val="B5497A">
              <a:alpha val="35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429000" y="2029968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FemCare AI — offline-first · privacy by design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053328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 isn't a feature list — it's who owns the data. We built the trust layer others treat as an afterthought.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857590"/>
                </a:solidFill>
              </a:rPr>
              <a:t>FemCare AI  ·  10</a:t>
            </a: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4A6B9"/>
                </a:solidFill>
              </a:rPr>
              <a:t>10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0936"/>
            <a:ext cx="128016" cy="128016"/>
          </a:xfrm>
          <a:prstGeom prst="ellipse">
            <a:avLst/>
          </a:prstGeom>
          <a:solidFill>
            <a:srgbClr val="D65D9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029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Health, dignity &amp; equity at scale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606040" y="2011680"/>
            <a:ext cx="822960" cy="822960"/>
          </a:xfrm>
          <a:prstGeom prst="ellipse">
            <a:avLst/>
          </a:prstGeom>
          <a:solidFill>
            <a:srgbClr val="B5497A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4963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23M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58952" y="304495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B54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GIRLS KEPT IN SCHOOL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58952" y="33375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Adolescents at risk of period-poverty dropout stay learning via free-pad locator &amp; education.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233172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1880" y="24963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9.5K+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639312" y="304495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7C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PAD ACCESS POINTS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39312" y="33375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Aushadhi, ASHA &amp; Anganwadi centres and Red Cross banks mapped in-app.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2331720"/>
            <a:ext cx="2743200" cy="2011680"/>
          </a:xfrm>
          <a:prstGeom prst="roundRect">
            <a:avLst>
              <a:gd name="adj" fmla="val 5455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92240" y="24963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6519672" y="3044952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F0B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ANAEMIA AWARENESS LIFT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19672" y="3337560"/>
            <a:ext cx="2240280" cy="868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Iron-boosting recipes + Vitamin-C pairing tackle period-related anaemia.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144000" y="2331720"/>
            <a:ext cx="2560320" cy="2011680"/>
          </a:xfrm>
          <a:prstGeom prst="roundRect">
            <a:avLst>
              <a:gd name="adj" fmla="val 4545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</p:spPr>
      </p:sp>
      <p:pic>
        <p:nvPicPr>
          <p:cNvPr id="19" name="Image 0" descr="C:\Users\ganes\OneDrive\Desktop\Femcare\ppt\assets\community-wome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217152" y="2404872"/>
            <a:ext cx="2414016" cy="1865376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9290304" y="3630168"/>
            <a:ext cx="2267712" cy="566928"/>
          </a:xfrm>
          <a:prstGeom prst="roundRect">
            <a:avLst>
              <a:gd name="adj" fmla="val 12903"/>
            </a:avLst>
          </a:prstGeom>
          <a:solidFill>
            <a:srgbClr val="0B0910">
              <a:alpha val="75000"/>
            </a:srgbClr>
          </a:solidFill>
          <a:ln w="6350">
            <a:solidFill>
              <a:srgbClr val="F4A6B9">
                <a:alpha val="4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418320" y="3685032"/>
            <a:ext cx="199339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De-stigmatization — from hostels to villages.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02920" y="4572000"/>
            <a:ext cx="6400800" cy="1737360"/>
          </a:xfrm>
          <a:prstGeom prst="roundRect">
            <a:avLst>
              <a:gd name="adj" fmla="val 5263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</p:spPr>
      </p:sp>
      <p:pic>
        <p:nvPicPr>
          <p:cNvPr id="23" name="Image 1" descr="C:\Users\ganes\OneDrive\Desktop\Femcare\ppt\assets\mother-child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76072" y="4645152"/>
            <a:ext cx="6254496" cy="1591056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649224" y="5596128"/>
            <a:ext cx="6108192" cy="566928"/>
          </a:xfrm>
          <a:prstGeom prst="roundRect">
            <a:avLst>
              <a:gd name="adj" fmla="val 12903"/>
            </a:avLst>
          </a:prstGeom>
          <a:solidFill>
            <a:srgbClr val="0B0910">
              <a:alpha val="75000"/>
            </a:srgbClr>
          </a:solidFill>
          <a:ln w="6350">
            <a:solidFill>
              <a:srgbClr val="F4A6B9">
                <a:alpha val="4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77240" y="5650992"/>
            <a:ext cx="5833872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Reaching the last mile — from urban campuses to ASHA circles.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7086600" y="4572000"/>
            <a:ext cx="4572000" cy="1737360"/>
          </a:xfrm>
          <a:prstGeom prst="roundRect">
            <a:avLst>
              <a:gd name="adj" fmla="val 6316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7315200" y="4709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🌾 Beyond the app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7315200" y="50749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Partnerships with Myna Mahila, Red Dot Foundation &amp; SEWA bring FemCare into real communities — turning privacy-tech into public-health change.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857590"/>
                </a:solidFill>
              </a:rPr>
              <a:t>FemCare AI  ·  11</a:t>
            </a: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4A6B9"/>
                </a:solidFill>
              </a:rPr>
              <a:t>11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0936"/>
            <a:ext cx="128016" cy="128016"/>
          </a:xfrm>
          <a:prstGeom prst="ellipse">
            <a:avLst/>
          </a:prstGeom>
          <a:solidFill>
            <a:srgbClr val="D65D9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029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Privacy-preserving monetization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16916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never sell data — we sell value. Three revenue engines, each compatible with “your period data never leaves your device.”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74320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971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2918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🆓  Freemium Offline App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tracking, AI triage &amp; SOS are 100% free forever. Premium unlocks advanced analytics &amp; deep journaling.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274320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2971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32918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🛍  Discreet Affiliate Commerce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72000" y="411480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Commission on sustainable period-care brands — silicone cups, organic bamboo pads — with privacy-safe redirection, never personal data.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92440" y="2743200"/>
            <a:ext cx="3611880" cy="3017520"/>
          </a:xfrm>
          <a:prstGeom prst="roundRect">
            <a:avLst>
              <a:gd name="adj" fmla="val 3636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66760" y="2971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b="1" spc="200" kern="0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66760" y="329184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  B2B Campus &amp; Corporate Wellness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366760" y="411480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Offline-packaged health licensing for universities, schools &amp; workplaces — bulk dignity, zero data leaving their premises.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857590"/>
                </a:solidFill>
              </a:rPr>
              <a:t>FemCare AI  ·  12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4A6B9"/>
                </a:solidFill>
              </a:rPr>
              <a:t>12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0936"/>
            <a:ext cx="128016" cy="128016"/>
          </a:xfrm>
          <a:prstGeom prst="ellipse">
            <a:avLst/>
          </a:prstGeom>
          <a:solidFill>
            <a:srgbClr val="D65D9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029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phases to 100,000 users in 6 months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3017520"/>
            <a:ext cx="3749040" cy="2651760"/>
          </a:xfrm>
          <a:prstGeom prst="roundRect">
            <a:avLst>
              <a:gd name="adj" fmla="val 4138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788920"/>
            <a:ext cx="310896" cy="310896"/>
          </a:xfrm>
          <a:prstGeom prst="ellipse">
            <a:avLst/>
          </a:prstGeom>
          <a:solidFill>
            <a:srgbClr val="B5497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B54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· M1–M3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ignition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ambassadors across major Indian universities &amp; women's hostels — referral circles go viral through hostel WhatsApp groups.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3017520"/>
            <a:ext cx="3749040" cy="2651760"/>
          </a:xfrm>
          <a:prstGeom prst="roundRect">
            <a:avLst>
              <a:gd name="adj" fmla="val 4138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788920"/>
            <a:ext cx="310896" cy="310896"/>
          </a:xfrm>
          <a:prstGeom prst="ellipse">
            <a:avLst/>
          </a:prstGeom>
          <a:solidFill>
            <a:srgbClr val="7C5A8C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7C5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· M4–M6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09160" y="3611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 &amp; public-health rails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09160" y="40690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with Myna Mahila, Red Dot Foundation &amp; SEWA for distribution through ASHA &amp; Anganwadi networks.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66760" y="3017520"/>
            <a:ext cx="3749040" cy="2651760"/>
          </a:xfrm>
          <a:prstGeom prst="roundRect">
            <a:avLst>
              <a:gd name="adj" fmla="val 4138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41080" y="2788920"/>
            <a:ext cx="310896" cy="310896"/>
          </a:xfrm>
          <a:prstGeom prst="ellipse">
            <a:avLst/>
          </a:prstGeom>
          <a:solidFill>
            <a:srgbClr val="F0B34C"/>
          </a:solidFill>
          <a:ln/>
        </p:spPr>
      </p:sp>
      <p:sp>
        <p:nvSpPr>
          <p:cNvPr id="17" name="Text 15"/>
          <p:cNvSpPr/>
          <p:nvPr/>
        </p:nvSpPr>
        <p:spPr>
          <a:xfrm>
            <a:off x="864108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F0B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M6+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641080" y="3611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Grassroots amplification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41080" y="406908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advocates, women's-health creators &amp; campus-to-city events turn the privacy-first story into national momentum.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2944368"/>
            <a:ext cx="457200" cy="0"/>
          </a:xfrm>
          <a:prstGeom prst="line">
            <a:avLst/>
          </a:prstGeom>
          <a:noFill/>
          <a:ln w="19050">
            <a:solidFill>
              <a:srgbClr val="B549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2944368"/>
            <a:ext cx="457200" cy="0"/>
          </a:xfrm>
          <a:prstGeom prst="line">
            <a:avLst/>
          </a:prstGeom>
          <a:noFill/>
          <a:ln w="19050">
            <a:solidFill>
              <a:srgbClr val="7C5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857590"/>
                </a:solidFill>
              </a:rPr>
              <a:t>FemCare AI  ·  13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4A6B9"/>
                </a:solidFill>
              </a:rPr>
              <a:t>13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2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0936"/>
            <a:ext cx="128016" cy="128016"/>
          </a:xfrm>
          <a:prstGeom prst="ellipse">
            <a:avLst/>
          </a:prstGeom>
          <a:solidFill>
            <a:srgbClr val="D65D95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502920"/>
            <a:ext cx="10515600" cy="2926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spc="400" kern="0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3 quarters — still offline-first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3063240"/>
            <a:ext cx="3749040" cy="2606040"/>
          </a:xfrm>
          <a:prstGeom prst="roundRect">
            <a:avLst>
              <a:gd name="adj" fmla="val 4211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· 2027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  Smarter Femi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42519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Voice-note AI transcription v2 + smart wearable Bluetooth export — synced locally, never through the cloud.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3063240"/>
            <a:ext cx="3749040" cy="2606040"/>
          </a:xfrm>
          <a:prstGeom prst="roundRect">
            <a:avLst>
              <a:gd name="adj" fmla="val 4211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· 2027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3703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🌏  12 languages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709160" y="42519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to 8 more Indian languages — मराठी, বাংলা, ગુજરાતી, ಕನ್ನಡ and more — plus transliteration.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66760" y="3063240"/>
            <a:ext cx="3749040" cy="2606040"/>
          </a:xfrm>
          <a:prstGeom prst="roundRect">
            <a:avLst>
              <a:gd name="adj" fmla="val 4211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641080" y="3291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0B3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· 2027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41080" y="37033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🔗  Circle sync w/o internet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641080" y="425196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encrypted peer-to-peer sync via Bluetooth &amp; QR codes — family group-share that never touches a server.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857590"/>
                </a:solidFill>
              </a:rPr>
              <a:t>FemCare AI  ·  14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1292840" y="651052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b="1" dirty="0">
                <a:solidFill>
                  <a:srgbClr val="F4A6B9"/>
                </a:solidFill>
              </a:rPr>
              <a:t>14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4114800" cy="4114800"/>
          </a:xfrm>
          <a:prstGeom prst="ellipse">
            <a:avLst/>
          </a:prstGeom>
          <a:solidFill>
            <a:srgbClr val="B5497A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4389120"/>
            <a:ext cx="4114800" cy="4114800"/>
          </a:xfrm>
          <a:prstGeom prst="ellipse">
            <a:avLst/>
          </a:prstGeom>
          <a:solidFill>
            <a:srgbClr val="7C5A8C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0" y="8229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spc="400" kern="0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🌸  THE ASK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0" y="137160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us take FemCare to every corner of India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0" y="2468880"/>
            <a:ext cx="12191695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600" b="1" dirty="0">
                <a:solidFill>
                  <a:srgbClr val="F4A6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₹1.5 Cr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0" y="39319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$180K USD · Seed &amp; partnerships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48840" y="4617720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473659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🚜 Rural outreach — scale pad-locator &amp; local content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83480" y="4617720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473659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🩺 Clinical pilots — with gynecological associations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818120" y="4617720"/>
            <a:ext cx="2697480" cy="640080"/>
          </a:xfrm>
          <a:prstGeom prst="roundRect">
            <a:avLst>
              <a:gd name="adj" fmla="val 17143"/>
            </a:avLst>
          </a:prstGeom>
          <a:solidFill>
            <a:srgbClr val="1E1727"/>
          </a:solidFill>
          <a:ln w="12700">
            <a:solidFill>
              <a:srgbClr val="3125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8120" y="473659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6EF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🗣 8 more languages — localized public-health content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A99B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Dignity, privacy &amp; health — in every cycle.   Thank you 🌸   — Team FemCare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FemCare AI — Private Menstrual Health Companion</dc:subject>
  <dc:creator>FemCare AI</dc:creator>
  <cp:lastModifiedBy>FemCare AI</cp:lastModifiedBy>
  <cp:revision>1</cp:revision>
  <dcterms:created xsi:type="dcterms:W3CDTF">2026-09-22T10:44:49Z</dcterms:created>
  <dcterms:modified xsi:type="dcterms:W3CDTF">2026-09-22T10:44:49Z</dcterms:modified>
</cp:coreProperties>
</file>